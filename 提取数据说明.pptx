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738" r:id="rId2"/>
  </p:sldMasterIdLst>
  <p:notesMasterIdLst>
    <p:notesMasterId r:id="rId16"/>
  </p:notesMasterIdLst>
  <p:handoutMasterIdLst>
    <p:handoutMasterId r:id="rId17"/>
  </p:handoutMasterIdLst>
  <p:sldIdLst>
    <p:sldId id="536" r:id="rId3"/>
    <p:sldId id="526" r:id="rId4"/>
    <p:sldId id="530" r:id="rId5"/>
    <p:sldId id="531" r:id="rId6"/>
    <p:sldId id="532" r:id="rId7"/>
    <p:sldId id="528" r:id="rId8"/>
    <p:sldId id="529" r:id="rId9"/>
    <p:sldId id="533" r:id="rId10"/>
    <p:sldId id="534" r:id="rId11"/>
    <p:sldId id="535" r:id="rId12"/>
    <p:sldId id="537" r:id="rId13"/>
    <p:sldId id="539" r:id="rId14"/>
    <p:sldId id="524" r:id="rId15"/>
  </p:sldIdLst>
  <p:sldSz cx="12192000" cy="6858000"/>
  <p:notesSz cx="9926638" cy="666908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2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2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2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7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3F3"/>
    <a:srgbClr val="3366CC"/>
    <a:srgbClr val="CC3300"/>
    <a:srgbClr val="CC0000"/>
    <a:srgbClr val="BFBFBF"/>
    <a:srgbClr val="CC0066"/>
    <a:srgbClr val="ADADEB"/>
    <a:srgbClr val="5F5F5F"/>
    <a:srgbClr val="CCCED3"/>
    <a:srgbClr val="92A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96" autoAdjust="0"/>
    <p:restoredTop sz="94424" autoAdjust="0"/>
  </p:normalViewPr>
  <p:slideViewPr>
    <p:cSldViewPr>
      <p:cViewPr varScale="1">
        <p:scale>
          <a:sx n="114" d="100"/>
          <a:sy n="114" d="100"/>
        </p:scale>
        <p:origin x="282" y="84"/>
      </p:cViewPr>
      <p:guideLst>
        <p:guide orient="horz" pos="2193"/>
        <p:guide pos="37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3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kumimoji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6100" y="0"/>
            <a:ext cx="4300538" cy="333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35713"/>
            <a:ext cx="4300538" cy="333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buFontTx/>
              <a:buNone/>
              <a:defRPr kumimoji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6100" y="6335713"/>
            <a:ext cx="4300538" cy="333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D9C45D7-81E3-43AC-A8C2-C4DD3FEE3E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735592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27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kumimoji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6100" y="0"/>
            <a:ext cx="4300538" cy="327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2732088" y="492125"/>
            <a:ext cx="4470400" cy="2514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975" y="3170238"/>
            <a:ext cx="7278688" cy="300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42063"/>
            <a:ext cx="4300538" cy="327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buFontTx/>
              <a:buNone/>
              <a:defRPr kumimoji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6100" y="6342063"/>
            <a:ext cx="4300538" cy="327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28E7A1A-6B9F-4159-9BBF-83F53CE471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140901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fld id="{1B4CDDD5-B26E-4763-9121-C3B3AB8CEF8E}" type="slidenum">
              <a:rPr lang="en-US" altLang="zh-CN" sz="1800" smtClean="0"/>
              <a:t>13</a:t>
            </a:fld>
            <a:endParaRPr lang="en-US" altLang="zh-CN" sz="18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3300413" y="498475"/>
            <a:ext cx="3338512" cy="2503488"/>
          </a:xfrm>
          <a:solidFill>
            <a:srgbClr val="FFFFFF"/>
          </a:solidFill>
        </p:spPr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23975" y="3167063"/>
            <a:ext cx="7278688" cy="30035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57445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56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91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26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62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43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9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90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965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31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02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23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896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836711"/>
            <a:ext cx="2483668" cy="53402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836711"/>
            <a:ext cx="7706072" cy="534025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55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4794" y="103427"/>
            <a:ext cx="1759264" cy="62317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52474"/>
            <a:ext cx="1368152" cy="767111"/>
          </a:xfrm>
          <a:prstGeom prst="rect">
            <a:avLst/>
          </a:prstGeom>
        </p:spPr>
      </p:pic>
      <p:sp>
        <p:nvSpPr>
          <p:cNvPr id="7" name="Rectangle 10"/>
          <p:cNvSpPr>
            <a:spLocks noChangeArrowheads="1"/>
          </p:cNvSpPr>
          <p:nvPr userDrawn="1"/>
        </p:nvSpPr>
        <p:spPr bwMode="auto">
          <a:xfrm flipV="1">
            <a:off x="191344" y="836712"/>
            <a:ext cx="10023450" cy="72008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53000">
                <a:srgbClr val="627BA6"/>
              </a:gs>
              <a:gs pos="0">
                <a:srgbClr val="000066"/>
              </a:gs>
            </a:gsLst>
            <a:lin ang="0" scaled="0"/>
            <a:tileRect/>
          </a:gradFill>
          <a:ln w="28575" algn="ctr">
            <a:noFill/>
            <a:miter lim="800000"/>
            <a:headEnd/>
            <a:tailEnd/>
          </a:ln>
          <a:effectLst/>
        </p:spPr>
        <p:txBody>
          <a:bodyPr wrap="none" lIns="72214" tIns="36107" rIns="72214" bIns="36107" anchor="ctr"/>
          <a:lstStyle/>
          <a:p>
            <a:pPr defTabSz="722137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n>
                <a:solidFill>
                  <a:srgbClr val="002060"/>
                </a:solidFill>
              </a:ln>
              <a:solidFill>
                <a:srgbClr val="002060"/>
              </a:solidFill>
              <a:latin typeface="+mn-lt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252" y="6305196"/>
            <a:ext cx="4621908" cy="523220"/>
            <a:chOff x="9252" y="6305196"/>
            <a:chExt cx="4621908" cy="523220"/>
          </a:xfrm>
        </p:grpSpPr>
        <p:sp>
          <p:nvSpPr>
            <p:cNvPr id="6" name="文本框 5"/>
            <p:cNvSpPr txBox="1"/>
            <p:nvPr userDrawn="1"/>
          </p:nvSpPr>
          <p:spPr>
            <a:xfrm>
              <a:off x="9252" y="6305196"/>
              <a:ext cx="13681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latin typeface="Arial Black" panose="020B0A040201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DISS</a:t>
              </a:r>
              <a:endParaRPr lang="zh-CN" altLang="en-US" sz="2800" b="1" dirty="0">
                <a:latin typeface="Arial Black" panose="020B0A0402010202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199456" y="6334815"/>
              <a:ext cx="3431704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Verdana" panose="020B0604030504040204" pitchFamily="34" charset="0"/>
                </a:rPr>
                <a:t>南 京 东 华 智 能 转 向 系 统 有 限 公 司</a:t>
              </a:r>
              <a:r>
                <a:rPr lang="en-US" altLang="zh-CN" sz="900" b="1" kern="1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lang="en-US" altLang="zh-CN" sz="900" b="1" kern="1200" dirty="0">
                  <a:solidFill>
                    <a:schemeClr val="tx2"/>
                  </a:solidFill>
                  <a:latin typeface="Arial Black" panose="020B0A04020102020204" pitchFamily="34" charset="0"/>
                  <a:ea typeface="宋体" panose="02010600030101010101" pitchFamily="2" charset="-122"/>
                  <a:cs typeface="Verdana" panose="020B0604030504040204" pitchFamily="34" charset="0"/>
                </a:rPr>
                <a:t>Nanjing Donghua lntelligent Steering System Co.,ltd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24" r:id="rId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  <a:ea typeface="等线 Light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  <a:ea typeface="等线 Light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  <a:ea typeface="等线 Light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  <a:ea typeface="等线 Light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  <a:ea typeface="等线 Light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  <a:ea typeface="等线 Light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  <a:ea typeface="等线 Light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  <a:ea typeface="等线 Light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3352" y="101922"/>
            <a:ext cx="5256584" cy="543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7" y="12623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4794" y="103427"/>
            <a:ext cx="1759264" cy="623177"/>
          </a:xfrm>
          <a:prstGeom prst="rect">
            <a:avLst/>
          </a:prstGeom>
        </p:spPr>
      </p:pic>
      <p:sp>
        <p:nvSpPr>
          <p:cNvPr id="13" name="Rectangle 10"/>
          <p:cNvSpPr>
            <a:spLocks noChangeArrowheads="1"/>
          </p:cNvSpPr>
          <p:nvPr userDrawn="1"/>
        </p:nvSpPr>
        <p:spPr bwMode="auto">
          <a:xfrm flipV="1">
            <a:off x="191344" y="692696"/>
            <a:ext cx="10023450" cy="72008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53000">
                <a:srgbClr val="627BA6"/>
              </a:gs>
              <a:gs pos="0">
                <a:srgbClr val="000066"/>
              </a:gs>
            </a:gsLst>
            <a:lin ang="0" scaled="0"/>
            <a:tileRect/>
          </a:gradFill>
          <a:ln w="28575" algn="ctr">
            <a:noFill/>
            <a:miter lim="800000"/>
            <a:headEnd/>
            <a:tailEnd/>
          </a:ln>
          <a:effectLst/>
        </p:spPr>
        <p:txBody>
          <a:bodyPr wrap="none" lIns="72214" tIns="36107" rIns="72214" bIns="36107" anchor="ctr"/>
          <a:lstStyle/>
          <a:p>
            <a:pPr defTabSz="722137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n>
                <a:solidFill>
                  <a:srgbClr val="002060"/>
                </a:solidFill>
              </a:ln>
              <a:solidFill>
                <a:srgbClr val="002060"/>
              </a:solidFill>
              <a:latin typeface="+mn-lt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-24680" y="6277302"/>
            <a:ext cx="4621908" cy="523220"/>
            <a:chOff x="9252" y="6305196"/>
            <a:chExt cx="4621908" cy="523220"/>
          </a:xfrm>
        </p:grpSpPr>
        <p:sp>
          <p:nvSpPr>
            <p:cNvPr id="23" name="文本框 22"/>
            <p:cNvSpPr txBox="1"/>
            <p:nvPr userDrawn="1"/>
          </p:nvSpPr>
          <p:spPr>
            <a:xfrm>
              <a:off x="9252" y="6305196"/>
              <a:ext cx="13681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latin typeface="Arial Black" panose="020B0A040201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DISS</a:t>
              </a:r>
              <a:endParaRPr lang="zh-CN" altLang="en-US" sz="2800" b="1" dirty="0">
                <a:latin typeface="Arial Black" panose="020B0A0402010202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4" name="文本框 23"/>
            <p:cNvSpPr txBox="1"/>
            <p:nvPr userDrawn="1"/>
          </p:nvSpPr>
          <p:spPr>
            <a:xfrm>
              <a:off x="1199456" y="6334815"/>
              <a:ext cx="3431704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Verdana" panose="020B0604030504040204" pitchFamily="34" charset="0"/>
                </a:rPr>
                <a:t>南 京 东 华 智 能 转 向 系 统 有 限 公 司</a:t>
              </a:r>
              <a:r>
                <a:rPr lang="en-US" altLang="zh-CN" sz="900" b="1" kern="1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lang="en-US" altLang="zh-CN" sz="900" b="1" kern="1200" dirty="0">
                  <a:solidFill>
                    <a:schemeClr val="tx2"/>
                  </a:solidFill>
                  <a:latin typeface="Arial Black" panose="020B0A04020102020204" pitchFamily="34" charset="0"/>
                  <a:ea typeface="宋体" panose="02010600030101010101" pitchFamily="2" charset="-122"/>
                  <a:cs typeface="Verdana" panose="020B0604030504040204" pitchFamily="34" charset="0"/>
                </a:rPr>
                <a:t>Nanjing Donghua lntelligent Steering System Co.,ltd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578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B2BAC-6DFE-4681-AEFC-D978B507CD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不影响生产且</a:t>
            </a:r>
            <a:br>
              <a:rPr lang="en-US" altLang="zh-CN" dirty="0"/>
            </a:br>
            <a:r>
              <a:rPr lang="zh-CN" altLang="en-US" dirty="0"/>
              <a:t>从工位计算机提取数据的</a:t>
            </a:r>
            <a:br>
              <a:rPr lang="en-US" altLang="zh-CN" dirty="0"/>
            </a:br>
            <a:r>
              <a:rPr lang="zh-CN" altLang="en-US" dirty="0"/>
              <a:t>解决方案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F51576-3028-489E-8F2E-B9758793C0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/>
              <a:t>梁天诚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F997DF-48DF-435A-B3E0-A5180E9A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559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ADF09AC-8DB0-466E-A20D-86E01AFF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验证工作中遇到的问题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342691C-283D-4D96-90C4-CBC56AF55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en-US" sz="2400" dirty="0"/>
              <a:t>　　正常情况下，数据从车间</a:t>
            </a:r>
            <a:r>
              <a:rPr lang="en-US" altLang="zh-CN" sz="2400" dirty="0"/>
              <a:t>MES</a:t>
            </a:r>
            <a:r>
              <a:rPr lang="zh-CN" altLang="en-US" sz="2400" dirty="0"/>
              <a:t>服务器上导出，在办公室登录网页就可以直接导出工位设备的历史工作状态。大多数工位的数据都是每个工件对应一条记录，有</a:t>
            </a:r>
            <a:r>
              <a:rPr lang="en-US" altLang="zh-CN" sz="2400" dirty="0"/>
              <a:t>4-5</a:t>
            </a:r>
            <a:r>
              <a:rPr lang="zh-CN" altLang="en-US" sz="2400" dirty="0"/>
              <a:t>个属性，和标准的数据库存储方案兼容性好。但是</a:t>
            </a:r>
            <a:r>
              <a:rPr lang="en-US" altLang="zh-CN" sz="2400" dirty="0"/>
              <a:t>OP210~OP370</a:t>
            </a:r>
            <a:r>
              <a:rPr lang="zh-CN" altLang="en-US" sz="2400" dirty="0"/>
              <a:t>记录的内容都是位移</a:t>
            </a:r>
            <a:r>
              <a:rPr lang="en-US" altLang="zh-CN" sz="2400" dirty="0"/>
              <a:t>-</a:t>
            </a:r>
            <a:r>
              <a:rPr lang="zh-CN" altLang="en-US" sz="2400" dirty="0"/>
              <a:t>压力曲线，数据库不会记录曲线，只会记录该工件的条码、时间以及是否合格。而验证工作需要得到确切的曲线。</a:t>
            </a:r>
          </a:p>
        </p:txBody>
      </p:sp>
    </p:spTree>
    <p:extLst>
      <p:ext uri="{BB962C8B-B14F-4D97-AF65-F5344CB8AC3E}">
        <p14:creationId xmlns:p14="http://schemas.microsoft.com/office/powerpoint/2010/main" val="3590433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ADF09AC-8DB0-466E-A20D-86E01AFF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复制文件中遇到的问题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342691C-283D-4D96-90C4-CBC56AF5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836712"/>
            <a:ext cx="11953328" cy="547260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　　发现设备和计算机并非一一对应，比如</a:t>
            </a:r>
            <a:r>
              <a:rPr lang="en-US" altLang="zh-CN" sz="2400" dirty="0"/>
              <a:t>OP310</a:t>
            </a:r>
            <a:r>
              <a:rPr lang="zh-CN" altLang="en-US" sz="2400" dirty="0"/>
              <a:t>的计算机除了在“</a:t>
            </a:r>
            <a:r>
              <a:rPr lang="en-US" altLang="zh-CN" sz="2400" dirty="0"/>
              <a:t>E:/Data Store”</a:t>
            </a:r>
            <a:r>
              <a:rPr lang="zh-CN" altLang="en-US" sz="2400" dirty="0"/>
              <a:t>下存储该工位的数据，还在“</a:t>
            </a:r>
            <a:r>
              <a:rPr lang="en-US" altLang="zh-CN" sz="2400" dirty="0"/>
              <a:t>D:/Files”</a:t>
            </a:r>
            <a:r>
              <a:rPr lang="zh-CN" altLang="en-US" sz="2400" dirty="0"/>
              <a:t>下存储</a:t>
            </a:r>
            <a:r>
              <a:rPr lang="en-US" altLang="zh-CN" sz="2400" dirty="0"/>
              <a:t>OP320</a:t>
            </a:r>
            <a:r>
              <a:rPr lang="zh-CN" altLang="en-US" sz="2400" dirty="0"/>
              <a:t>和</a:t>
            </a:r>
            <a:r>
              <a:rPr lang="en-US" altLang="zh-CN" sz="2400" dirty="0"/>
              <a:t>OP360</a:t>
            </a:r>
            <a:r>
              <a:rPr lang="zh-CN" altLang="en-US" sz="2400" dirty="0"/>
              <a:t>的数据。</a:t>
            </a:r>
            <a:endParaRPr lang="en-US" altLang="zh-CN" sz="24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　　对于工位自身的数据，如</a:t>
            </a:r>
            <a:r>
              <a:rPr lang="en-US" altLang="zh-CN" sz="2400" dirty="0"/>
              <a:t>OP310</a:t>
            </a:r>
            <a:r>
              <a:rPr lang="zh-CN" altLang="en-US" sz="2400" dirty="0"/>
              <a:t>计算机存储的</a:t>
            </a:r>
            <a:r>
              <a:rPr lang="en-US" altLang="zh-CN" sz="2400" dirty="0"/>
              <a:t>OP310</a:t>
            </a:r>
            <a:r>
              <a:rPr lang="zh-CN" altLang="en-US" sz="2400" dirty="0"/>
              <a:t>数据，共分为</a:t>
            </a:r>
            <a:r>
              <a:rPr lang="en-US" altLang="zh-CN" sz="2400" dirty="0"/>
              <a:t>3</a:t>
            </a:r>
            <a:r>
              <a:rPr lang="zh-CN" altLang="en-US" sz="2400" dirty="0"/>
              <a:t>类，分别为</a:t>
            </a:r>
            <a:r>
              <a:rPr lang="en-US" altLang="zh-CN" sz="2400" dirty="0" err="1"/>
              <a:t>labVIEW</a:t>
            </a:r>
            <a:r>
              <a:rPr lang="zh-CN" altLang="en-US" sz="2400" dirty="0"/>
              <a:t>导出的曲线数据、工位软件生成的图片，还有所有经过该工位的工件条码、时间以及是否合格的摘要表格文件。这三种类型的文件散落在不同的子文件夹下，无法先按照修改日期排序，再一起复制。需要等待多次漫长的加载和操作时间，影响工人生产。</a:t>
            </a:r>
            <a:endParaRPr lang="en-US" altLang="zh-CN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D554375-5C66-4F71-8BAF-77B8AA050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3645024"/>
            <a:ext cx="4723809" cy="1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2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ADF09AC-8DB0-466E-A20D-86E01AFF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文件夹层级关系复杂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83DD271-3349-4D3C-B30C-6565D88D2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398" y="-5620"/>
            <a:ext cx="3632479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B428C25-BF01-46C4-A9DE-A3DDB9996C95}"/>
              </a:ext>
            </a:extLst>
          </p:cNvPr>
          <p:cNvSpPr txBox="1"/>
          <p:nvPr/>
        </p:nvSpPr>
        <p:spPr>
          <a:xfrm>
            <a:off x="1487488" y="2060848"/>
            <a:ext cx="5544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chemeClr val="tx1"/>
                </a:solidFill>
              </a:rPr>
              <a:t>右图为筛选过后的</a:t>
            </a:r>
            <a:r>
              <a:rPr lang="en-US" altLang="zh-CN" sz="2000" dirty="0">
                <a:solidFill>
                  <a:schemeClr val="tx1"/>
                </a:solidFill>
              </a:rPr>
              <a:t>TDMS</a:t>
            </a:r>
            <a:r>
              <a:rPr lang="zh-CN" altLang="en-US" sz="2000" dirty="0">
                <a:solidFill>
                  <a:schemeClr val="tx1"/>
                </a:solidFill>
              </a:rPr>
              <a:t>文件夹，原始列表未按时间分类，很长，文件数量在万级以上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429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ADF09AC-8DB0-466E-A20D-86E01AFF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复制文件中遇到的问题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342691C-283D-4D96-90C4-CBC56AF5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836712"/>
            <a:ext cx="11953328" cy="547260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　　对于其他工位传递来的数据，如</a:t>
            </a:r>
            <a:r>
              <a:rPr lang="en-US" altLang="zh-CN" sz="2400" dirty="0"/>
              <a:t>OP310</a:t>
            </a:r>
            <a:r>
              <a:rPr lang="zh-CN" altLang="en-US" sz="2400" dirty="0"/>
              <a:t>计算机存储的</a:t>
            </a:r>
            <a:r>
              <a:rPr lang="en-US" altLang="zh-CN" sz="2400" dirty="0"/>
              <a:t>OP320</a:t>
            </a:r>
            <a:r>
              <a:rPr lang="zh-CN" altLang="en-US" sz="2400" dirty="0"/>
              <a:t>数据，每个工件只有一个</a:t>
            </a:r>
            <a:r>
              <a:rPr lang="en-US" altLang="zh-CN" sz="2400" dirty="0"/>
              <a:t>csv</a:t>
            </a:r>
            <a:r>
              <a:rPr lang="zh-CN" altLang="en-US" sz="2400" dirty="0"/>
              <a:t>格式的曲线文件，并且完全没有分成任何的文件夹，导致该文件夹下有超过</a:t>
            </a:r>
            <a:r>
              <a:rPr lang="en-US" altLang="zh-CN" sz="2400" dirty="0"/>
              <a:t>200</a:t>
            </a:r>
            <a:r>
              <a:rPr lang="zh-CN" altLang="en-US" sz="2400" dirty="0"/>
              <a:t>万个文件，打开该文件夹或进行排序经常引起</a:t>
            </a:r>
            <a:r>
              <a:rPr lang="en-US" altLang="zh-CN" sz="2400" dirty="0"/>
              <a:t>Windows</a:t>
            </a:r>
            <a:r>
              <a:rPr lang="zh-CN" altLang="en-US" sz="2400" dirty="0"/>
              <a:t>资源管理器崩溃，且几乎无法定位到特定的日期。设想可以利用脚本把文件按时间分类，放入文件夹。但这样做的代价是服务器无法读取到这些数据，导致其他环节出现问题。</a:t>
            </a:r>
            <a:endParaRPr lang="en-US" altLang="zh-CN" sz="24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　　对于</a:t>
            </a:r>
            <a:r>
              <a:rPr lang="en-US" altLang="zh-CN" sz="2400" dirty="0"/>
              <a:t>OP510</a:t>
            </a:r>
            <a:r>
              <a:rPr lang="zh-CN" altLang="en-US" sz="2400" dirty="0"/>
              <a:t>，虽然文件夹结构简单，但是我们只需要</a:t>
            </a:r>
            <a:r>
              <a:rPr lang="en-US" altLang="zh-CN" sz="2400" dirty="0"/>
              <a:t>txt</a:t>
            </a:r>
            <a:r>
              <a:rPr lang="zh-CN" altLang="en-US" sz="2400" dirty="0"/>
              <a:t>文件，</a:t>
            </a:r>
            <a:r>
              <a:rPr lang="en-US" altLang="zh-CN" sz="2400" dirty="0" err="1"/>
              <a:t>zipres</a:t>
            </a:r>
            <a:r>
              <a:rPr lang="zh-CN" altLang="en-US" sz="2400" dirty="0"/>
              <a:t>文件体积大且无法分析，需要在复制时按后缀名筛选。</a:t>
            </a:r>
            <a:endParaRPr lang="en-US" altLang="zh-CN" sz="24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　　因此采用程序复制。</a:t>
            </a:r>
          </a:p>
        </p:txBody>
      </p:sp>
    </p:spTree>
    <p:extLst>
      <p:ext uri="{BB962C8B-B14F-4D97-AF65-F5344CB8AC3E}">
        <p14:creationId xmlns:p14="http://schemas.microsoft.com/office/powerpoint/2010/main" val="3886690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ADF09AC-8DB0-466E-A20D-86E01AFF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使用程序复制文件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342691C-283D-4D96-90C4-CBC56AF5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827" y="1262350"/>
            <a:ext cx="10515600" cy="519098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把指定文件全部放进</a:t>
            </a:r>
            <a:r>
              <a:rPr lang="en-US" altLang="zh-CN" sz="2400" dirty="0"/>
              <a:t>U</a:t>
            </a:r>
            <a:r>
              <a:rPr lang="zh-CN" altLang="en-US" sz="2400" dirty="0"/>
              <a:t>盘</a:t>
            </a:r>
            <a:endParaRPr lang="en-US" altLang="zh-CN" sz="2400" dirty="0"/>
          </a:p>
          <a:p>
            <a:pPr marL="0" indent="0" algn="just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后续所有操作只需在</a:t>
            </a:r>
            <a:r>
              <a:rPr lang="en-US" altLang="zh-CN" sz="2400" dirty="0">
                <a:solidFill>
                  <a:srgbClr val="FF0000"/>
                </a:solidFill>
              </a:rPr>
              <a:t>U</a:t>
            </a:r>
            <a:r>
              <a:rPr lang="zh-CN" altLang="en-US" sz="2400" dirty="0">
                <a:solidFill>
                  <a:srgbClr val="FF0000"/>
                </a:solidFill>
              </a:rPr>
              <a:t>盘中进行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不需要把任何文件拷贝至目标计算机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双击</a:t>
            </a:r>
            <a:r>
              <a:rPr lang="en-US" altLang="zh-CN" sz="2400" dirty="0"/>
              <a:t>python-3.7.6.exe</a:t>
            </a:r>
            <a:r>
              <a:rPr lang="zh-CN" altLang="en-US" sz="2400" dirty="0"/>
              <a:t>安装</a:t>
            </a:r>
            <a:endParaRPr lang="en-US" altLang="zh-CN" sz="2400" dirty="0"/>
          </a:p>
          <a:p>
            <a:pPr marL="0" indent="0" algn="just">
              <a:buNone/>
            </a:pPr>
            <a:r>
              <a:rPr lang="en-US" altLang="zh-CN" sz="2400" kern="100" dirty="0">
                <a:effectLst/>
              </a:rPr>
              <a:t>3.</a:t>
            </a:r>
            <a:r>
              <a:rPr lang="zh-CN" altLang="zh-CN" sz="2400" kern="100" dirty="0">
                <a:effectLst/>
              </a:rPr>
              <a:t>出现</a:t>
            </a:r>
            <a:r>
              <a:rPr lang="zh-CN" altLang="en-US" sz="2400" kern="100" dirty="0">
                <a:effectLst/>
              </a:rPr>
              <a:t>右边</a:t>
            </a:r>
            <a:r>
              <a:rPr lang="zh-CN" altLang="zh-CN" sz="2400" kern="100" dirty="0">
                <a:effectLst/>
              </a:rPr>
              <a:t>的界面，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</a:rPr>
              <a:t>红圈中</a:t>
            </a:r>
            <a:r>
              <a:rPr lang="zh-CN" altLang="zh-CN" sz="2400" kern="100" dirty="0">
                <a:effectLst/>
              </a:rPr>
              <a:t>上面一个勾</a:t>
            </a:r>
            <a:endParaRPr lang="en-US" altLang="zh-CN" sz="2400" kern="100" dirty="0">
              <a:effectLst/>
            </a:endParaRPr>
          </a:p>
          <a:p>
            <a:pPr marL="0" indent="0" algn="just">
              <a:buNone/>
            </a:pPr>
            <a:r>
              <a:rPr lang="zh-CN" altLang="zh-CN" sz="2400" kern="100" dirty="0">
                <a:effectLst/>
              </a:rPr>
              <a:t>尽量不选</a:t>
            </a:r>
            <a:r>
              <a:rPr lang="zh-CN" altLang="en-US" sz="2400" kern="100" dirty="0"/>
              <a:t>，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</a:rPr>
              <a:t>下面一个勾一定要选</a:t>
            </a:r>
            <a:r>
              <a:rPr lang="zh-CN" altLang="zh-CN" sz="2400" kern="100" dirty="0">
                <a:effectLst/>
              </a:rPr>
              <a:t>，</a:t>
            </a:r>
            <a:endParaRPr lang="en-US" altLang="zh-CN" sz="2400" kern="100" dirty="0">
              <a:effectLst/>
            </a:endParaRPr>
          </a:p>
          <a:p>
            <a:pPr marL="0" indent="0" algn="just">
              <a:buNone/>
            </a:pPr>
            <a:r>
              <a:rPr lang="zh-CN" altLang="zh-CN" sz="2400" kern="100" dirty="0">
                <a:effectLst/>
              </a:rPr>
              <a:t>然后点</a:t>
            </a:r>
            <a:r>
              <a:rPr lang="en-US" altLang="zh-CN" sz="2400" kern="100" dirty="0">
                <a:effectLst/>
              </a:rPr>
              <a:t>Install Now</a:t>
            </a:r>
          </a:p>
          <a:p>
            <a:pPr marL="0" indent="0" algn="just">
              <a:buNone/>
            </a:pPr>
            <a:r>
              <a:rPr lang="en-US" altLang="zh-CN" sz="2400" kern="100" dirty="0"/>
              <a:t>4.</a:t>
            </a:r>
            <a:r>
              <a:rPr lang="zh-CN" altLang="en-US" sz="2400" kern="100" dirty="0"/>
              <a:t>安装完成后关闭</a:t>
            </a:r>
            <a:endParaRPr lang="en-US" altLang="zh-CN" sz="2400" kern="100" dirty="0"/>
          </a:p>
          <a:p>
            <a:pPr marL="0" indent="0" algn="just">
              <a:buNone/>
            </a:pPr>
            <a:endParaRPr lang="en-US" altLang="zh-CN" sz="2400" kern="100" dirty="0">
              <a:effectLst/>
            </a:endParaRPr>
          </a:p>
          <a:p>
            <a:pPr marL="0" indent="0" algn="just">
              <a:buNone/>
            </a:pPr>
            <a:r>
              <a:rPr lang="zh-CN" altLang="en-US" sz="2400" kern="100" dirty="0"/>
              <a:t>注：</a:t>
            </a:r>
            <a:r>
              <a:rPr lang="en-US" altLang="zh-CN" sz="2400" kern="100" dirty="0"/>
              <a:t>OP210</a:t>
            </a:r>
            <a:r>
              <a:rPr lang="zh-CN" altLang="en-US" sz="2400" kern="100" dirty="0"/>
              <a:t> </a:t>
            </a:r>
            <a:r>
              <a:rPr lang="en-US" altLang="zh-CN" sz="2400" kern="100" dirty="0"/>
              <a:t>OP310 OP330 OP340 OP130 OP500 OP510 </a:t>
            </a:r>
            <a:r>
              <a:rPr lang="zh-CN" altLang="en-US" sz="2400" kern="100" dirty="0"/>
              <a:t>工位计算机已安装，无需此步骤</a:t>
            </a:r>
            <a:endParaRPr lang="en-US" altLang="zh-CN" sz="2400" kern="100" dirty="0"/>
          </a:p>
          <a:p>
            <a:pPr marL="0" indent="0" algn="just">
              <a:buNone/>
            </a:pPr>
            <a:r>
              <a:rPr lang="zh-CN" altLang="en-US" sz="2400" kern="100" dirty="0">
                <a:effectLst/>
              </a:rPr>
              <a:t>已知</a:t>
            </a:r>
            <a:r>
              <a:rPr lang="en-US" altLang="zh-CN" sz="2400" kern="100" dirty="0">
                <a:effectLst/>
              </a:rPr>
              <a:t>OP420 OP490 OP500</a:t>
            </a:r>
            <a:r>
              <a:rPr lang="zh-CN" altLang="en-US" sz="2400" kern="100" dirty="0"/>
              <a:t>文件结构简单，</a:t>
            </a:r>
            <a:r>
              <a:rPr lang="zh-CN" altLang="en-US" sz="2400" kern="100" dirty="0">
                <a:effectLst/>
              </a:rPr>
              <a:t>无需使用程序复制</a:t>
            </a:r>
            <a:endParaRPr lang="zh-CN" altLang="en-US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AEB8C32-FA17-4864-95E3-39F7A03B651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32" y="908720"/>
            <a:ext cx="5274310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277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ADF09AC-8DB0-466E-A20D-86E01AFF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设定需求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342691C-283D-4D96-90C4-CBC56AF5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836712"/>
            <a:ext cx="11953328" cy="547260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以</a:t>
            </a:r>
            <a:r>
              <a:rPr lang="en-US" altLang="zh-CN" sz="2400" dirty="0"/>
              <a:t>OP310_320_360</a:t>
            </a:r>
            <a:r>
              <a:rPr lang="zh-CN" altLang="en-US" sz="2400" dirty="0"/>
              <a:t>为例，它是最复杂的。</a:t>
            </a:r>
            <a:endParaRPr lang="en-US" altLang="zh-CN" sz="24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右边红字为文件</a:t>
            </a:r>
            <a:r>
              <a:rPr lang="en-US" altLang="zh-CN" sz="2400" dirty="0"/>
              <a:t>extract_310_320_360.bat</a:t>
            </a:r>
            <a:r>
              <a:rPr lang="zh-CN" altLang="en-US" sz="2400" dirty="0"/>
              <a:t>的内容</a:t>
            </a:r>
            <a:endParaRPr lang="en-US" altLang="zh-CN" sz="24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dirty="0"/>
              <a:t>.bat</a:t>
            </a:r>
            <a:r>
              <a:rPr lang="zh-CN" altLang="en-US" sz="2400" dirty="0"/>
              <a:t>是脚本文件，可以双击运行</a:t>
            </a:r>
            <a:endParaRPr lang="en-US" altLang="zh-CN" sz="24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它需要读取三个文件的信息：</a:t>
            </a:r>
            <a:endParaRPr lang="en-US" altLang="zh-CN" sz="24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dirty="0"/>
              <a:t>OP310.json OP320.json OP360.json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虽然</a:t>
            </a:r>
            <a:r>
              <a:rPr lang="en-US" altLang="zh-CN" sz="2400" dirty="0"/>
              <a:t>OP310 OP320 OP360</a:t>
            </a:r>
            <a:r>
              <a:rPr lang="zh-CN" altLang="en-US" sz="2400" dirty="0"/>
              <a:t>的数据源文件夹结构不同，</a:t>
            </a:r>
            <a:endParaRPr lang="en-US" altLang="zh-CN" sz="24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但这三个文件是配置文件，结构相同</a:t>
            </a:r>
            <a:endParaRPr lang="en-US" altLang="zh-CN" sz="2400" dirty="0"/>
          </a:p>
          <a:p>
            <a:pPr marL="0" indent="0" algn="just">
              <a:lnSpc>
                <a:spcPct val="110000"/>
              </a:lnSpc>
              <a:buNone/>
            </a:pPr>
            <a:endParaRPr lang="en-US" altLang="zh-CN" sz="24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dirty="0"/>
              <a:t>　　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5916C8-C580-4A26-B880-E23476030564}"/>
              </a:ext>
            </a:extLst>
          </p:cNvPr>
          <p:cNvSpPr txBox="1"/>
          <p:nvPr/>
        </p:nvSpPr>
        <p:spPr>
          <a:xfrm>
            <a:off x="7104112" y="1052736"/>
            <a:ext cx="4392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@echo off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echo start processing OP310...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python -m </a:t>
            </a:r>
            <a:r>
              <a:rPr lang="en-US" altLang="zh-CN" sz="1800" dirty="0" err="1">
                <a:solidFill>
                  <a:srgbClr val="FF0000"/>
                </a:solidFill>
              </a:rPr>
              <a:t>extract_files</a:t>
            </a:r>
            <a:r>
              <a:rPr lang="en-US" altLang="zh-CN" sz="1800" dirty="0">
                <a:solidFill>
                  <a:srgbClr val="FF0000"/>
                </a:solidFill>
              </a:rPr>
              <a:t> "OP310.json"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echo start processing OP320...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python -m </a:t>
            </a:r>
            <a:r>
              <a:rPr lang="en-US" altLang="zh-CN" sz="1800" dirty="0" err="1">
                <a:solidFill>
                  <a:srgbClr val="FF0000"/>
                </a:solidFill>
              </a:rPr>
              <a:t>extract_files</a:t>
            </a:r>
            <a:r>
              <a:rPr lang="en-US" altLang="zh-CN" sz="1800" dirty="0">
                <a:solidFill>
                  <a:srgbClr val="FF0000"/>
                </a:solidFill>
              </a:rPr>
              <a:t> "OP320.json"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echo start processing OP360...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python -m </a:t>
            </a:r>
            <a:r>
              <a:rPr lang="en-US" altLang="zh-CN" sz="1800" dirty="0" err="1">
                <a:solidFill>
                  <a:srgbClr val="FF0000"/>
                </a:solidFill>
              </a:rPr>
              <a:t>extract_files</a:t>
            </a:r>
            <a:r>
              <a:rPr lang="en-US" altLang="zh-CN" sz="1800" dirty="0">
                <a:solidFill>
                  <a:srgbClr val="FF0000"/>
                </a:solidFill>
              </a:rPr>
              <a:t> "OP360.json"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pause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203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758BF-EF4A-4940-A5CF-5D0E77CA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配置文件说明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2A72372-0611-4584-A3B8-07F7E71E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40D315-4F83-4E8A-97C1-EB955A6BF876}"/>
              </a:ext>
            </a:extLst>
          </p:cNvPr>
          <p:cNvSpPr txBox="1"/>
          <p:nvPr/>
        </p:nvSpPr>
        <p:spPr>
          <a:xfrm>
            <a:off x="296052" y="980728"/>
            <a:ext cx="386997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{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    "</a:t>
            </a:r>
            <a:r>
              <a:rPr lang="en-US" altLang="zh-CN" sz="2400" dirty="0" err="1">
                <a:solidFill>
                  <a:srgbClr val="FF0000"/>
                </a:solidFill>
              </a:rPr>
              <a:t>src</a:t>
            </a:r>
            <a:r>
              <a:rPr lang="en-US" altLang="zh-CN" sz="2400" dirty="0">
                <a:solidFill>
                  <a:srgbClr val="FF0000"/>
                </a:solidFill>
              </a:rPr>
              <a:t>": "E:/Data Store/D69",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    "</a:t>
            </a:r>
            <a:r>
              <a:rPr lang="en-US" altLang="zh-CN" sz="2400" dirty="0" err="1">
                <a:solidFill>
                  <a:srgbClr val="FF0000"/>
                </a:solidFill>
              </a:rPr>
              <a:t>dst</a:t>
            </a:r>
            <a:r>
              <a:rPr lang="en-US" altLang="zh-CN" sz="2400" dirty="0">
                <a:solidFill>
                  <a:srgbClr val="FF0000"/>
                </a:solidFill>
              </a:rPr>
              <a:t>": "F:/OP310.tar",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    "</a:t>
            </a:r>
            <a:r>
              <a:rPr lang="en-US" altLang="zh-CN" sz="2400" dirty="0" err="1">
                <a:solidFill>
                  <a:srgbClr val="FF0000"/>
                </a:solidFill>
              </a:rPr>
              <a:t>time_range</a:t>
            </a:r>
            <a:r>
              <a:rPr lang="en-US" altLang="zh-CN" sz="2400" dirty="0">
                <a:solidFill>
                  <a:srgbClr val="FF0000"/>
                </a:solidFill>
              </a:rPr>
              <a:t>": ["", ""],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    “</a:t>
            </a:r>
            <a:r>
              <a:rPr lang="en-US" altLang="zh-CN" sz="2400" dirty="0" err="1">
                <a:solidFill>
                  <a:srgbClr val="FF0000"/>
                </a:solidFill>
              </a:rPr>
              <a:t>exts</a:t>
            </a:r>
            <a:r>
              <a:rPr lang="en-US" altLang="zh-CN" sz="2400" dirty="0">
                <a:solidFill>
                  <a:srgbClr val="FF0000"/>
                </a:solidFill>
              </a:rPr>
              <a:t>”: [“.txt”, “.csv”],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    "</a:t>
            </a:r>
            <a:r>
              <a:rPr lang="en-US" altLang="zh-CN" sz="2400" dirty="0" err="1">
                <a:solidFill>
                  <a:srgbClr val="FF0000"/>
                </a:solidFill>
              </a:rPr>
              <a:t>gz</a:t>
            </a:r>
            <a:r>
              <a:rPr lang="en-US" altLang="zh-CN" sz="2400" dirty="0">
                <a:solidFill>
                  <a:srgbClr val="FF0000"/>
                </a:solidFill>
              </a:rPr>
              <a:t>": false,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    "group": false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}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D2CFFE-2A4E-49E0-961E-31E2057DDF82}"/>
              </a:ext>
            </a:extLst>
          </p:cNvPr>
          <p:cNvSpPr txBox="1"/>
          <p:nvPr/>
        </p:nvSpPr>
        <p:spPr>
          <a:xfrm>
            <a:off x="4727848" y="883392"/>
            <a:ext cx="6912768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chemeClr val="tx1"/>
                </a:solidFill>
              </a:rPr>
              <a:t>src</a:t>
            </a:r>
            <a:r>
              <a:rPr lang="zh-CN" altLang="en-US" sz="2000" dirty="0">
                <a:solidFill>
                  <a:schemeClr val="tx1"/>
                </a:solidFill>
              </a:rPr>
              <a:t>是数据源的位置，文件夹名，一共只需调查一次，每个工位永远固定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 err="1">
                <a:solidFill>
                  <a:schemeClr val="tx1"/>
                </a:solidFill>
              </a:rPr>
              <a:t>dst</a:t>
            </a:r>
            <a:r>
              <a:rPr lang="zh-CN" altLang="en-US" sz="2000" dirty="0">
                <a:solidFill>
                  <a:schemeClr val="tx1"/>
                </a:solidFill>
              </a:rPr>
              <a:t>是导出路径，是文件名，</a:t>
            </a:r>
            <a:r>
              <a:rPr lang="en-US" altLang="zh-CN" sz="2000" dirty="0">
                <a:solidFill>
                  <a:schemeClr val="tx1"/>
                </a:solidFill>
              </a:rPr>
              <a:t>U</a:t>
            </a:r>
            <a:r>
              <a:rPr lang="zh-CN" altLang="en-US" sz="2000" dirty="0">
                <a:solidFill>
                  <a:schemeClr val="tx1"/>
                </a:solidFill>
              </a:rPr>
              <a:t>盘的盘符</a:t>
            </a:r>
            <a:r>
              <a:rPr lang="en-US" altLang="zh-CN" sz="2000" dirty="0">
                <a:solidFill>
                  <a:schemeClr val="tx1"/>
                </a:solidFill>
              </a:rPr>
              <a:t>(E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等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zh-CN" altLang="en-US" sz="2000" dirty="0">
                <a:solidFill>
                  <a:schemeClr val="tx1"/>
                </a:solidFill>
              </a:rPr>
              <a:t>可能变化。文件名必须以</a:t>
            </a:r>
            <a:r>
              <a:rPr lang="en-US" altLang="zh-CN" sz="2000" dirty="0">
                <a:solidFill>
                  <a:schemeClr val="tx1"/>
                </a:solidFill>
              </a:rPr>
              <a:t>.tar</a:t>
            </a:r>
            <a:r>
              <a:rPr lang="zh-CN" altLang="en-US" sz="2000" dirty="0">
                <a:solidFill>
                  <a:schemeClr val="tx1"/>
                </a:solidFill>
              </a:rPr>
              <a:t>结尾，前面可以改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如  </a:t>
            </a:r>
            <a:r>
              <a:rPr lang="en-US" altLang="zh-CN" sz="2000" dirty="0">
                <a:solidFill>
                  <a:schemeClr val="tx1"/>
                </a:solidFill>
              </a:rPr>
              <a:t>F:/OP310-name-change.tar  </a:t>
            </a:r>
            <a:r>
              <a:rPr lang="zh-CN" altLang="en-US" sz="2000" dirty="0">
                <a:solidFill>
                  <a:schemeClr val="tx1"/>
                </a:solidFill>
              </a:rPr>
              <a:t>也是合法的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 err="1">
                <a:solidFill>
                  <a:schemeClr val="tx1"/>
                </a:solidFill>
              </a:rPr>
              <a:t>Time_range</a:t>
            </a:r>
            <a:r>
              <a:rPr lang="zh-CN" altLang="en-US" sz="2000" dirty="0">
                <a:solidFill>
                  <a:schemeClr val="tx1"/>
                </a:solidFill>
              </a:rPr>
              <a:t>是时间范围，若有指定全局时间，这里可以不填，后面会讲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 err="1">
                <a:solidFill>
                  <a:schemeClr val="tx1"/>
                </a:solidFill>
              </a:rPr>
              <a:t>exts</a:t>
            </a:r>
            <a:r>
              <a:rPr lang="zh-CN" altLang="en-US" sz="2000" dirty="0">
                <a:solidFill>
                  <a:schemeClr val="tx1"/>
                </a:solidFill>
              </a:rPr>
              <a:t>是要提取的扩展名，不填的话就是不筛选文件名，填的话会只复制指定类型文件，扩展名包含点号，列表可以无限加长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 err="1">
                <a:solidFill>
                  <a:schemeClr val="tx1"/>
                </a:solidFill>
              </a:rPr>
              <a:t>gz</a:t>
            </a:r>
            <a:r>
              <a:rPr lang="zh-CN" altLang="en-US" sz="2000" dirty="0">
                <a:solidFill>
                  <a:schemeClr val="tx1"/>
                </a:solidFill>
              </a:rPr>
              <a:t>用于容量小的</a:t>
            </a:r>
            <a:r>
              <a:rPr lang="en-US" altLang="zh-CN" sz="2000" dirty="0">
                <a:solidFill>
                  <a:schemeClr val="tx1"/>
                </a:solidFill>
              </a:rPr>
              <a:t>U</a:t>
            </a:r>
            <a:r>
              <a:rPr lang="zh-CN" altLang="en-US" sz="2000" dirty="0">
                <a:solidFill>
                  <a:schemeClr val="tx1"/>
                </a:solidFill>
              </a:rPr>
              <a:t>盘，复制进</a:t>
            </a:r>
            <a:r>
              <a:rPr lang="en-US" altLang="zh-CN" sz="2000" dirty="0">
                <a:solidFill>
                  <a:schemeClr val="tx1"/>
                </a:solidFill>
              </a:rPr>
              <a:t>U</a:t>
            </a:r>
            <a:r>
              <a:rPr lang="zh-CN" altLang="en-US" sz="2000" dirty="0">
                <a:solidFill>
                  <a:schemeClr val="tx1"/>
                </a:solidFill>
              </a:rPr>
              <a:t>盘时文件会自动压缩，但是复制时间变长，注意压缩对于图片不能减小体积。启用开关写法：</a:t>
            </a:r>
            <a:r>
              <a:rPr lang="en-US" altLang="zh-CN" sz="2000" dirty="0">
                <a:solidFill>
                  <a:srgbClr val="FF0000"/>
                </a:solidFill>
              </a:rPr>
              <a:t>“</a:t>
            </a:r>
            <a:r>
              <a:rPr lang="en-US" altLang="zh-CN" sz="2000" dirty="0" err="1">
                <a:solidFill>
                  <a:srgbClr val="FF0000"/>
                </a:solidFill>
              </a:rPr>
              <a:t>gz</a:t>
            </a:r>
            <a:r>
              <a:rPr lang="en-US" altLang="zh-CN" sz="2000" dirty="0">
                <a:solidFill>
                  <a:srgbClr val="FF0000"/>
                </a:solidFill>
              </a:rPr>
              <a:t>”: true</a:t>
            </a:r>
            <a:r>
              <a:rPr lang="zh-CN" altLang="en-US" sz="2000" dirty="0">
                <a:solidFill>
                  <a:schemeClr val="tx1"/>
                </a:solidFill>
              </a:rPr>
              <a:t>。文件扩展名需要从</a:t>
            </a:r>
            <a:r>
              <a:rPr lang="en-US" altLang="zh-CN" sz="2000" dirty="0">
                <a:solidFill>
                  <a:schemeClr val="tx1"/>
                </a:solidFill>
              </a:rPr>
              <a:t>.tar</a:t>
            </a:r>
            <a:r>
              <a:rPr lang="zh-CN" altLang="en-US" sz="2000" dirty="0">
                <a:solidFill>
                  <a:schemeClr val="tx1"/>
                </a:solidFill>
              </a:rPr>
              <a:t>改成</a:t>
            </a:r>
            <a:r>
              <a:rPr lang="en-US" altLang="zh-CN" sz="2000" dirty="0">
                <a:solidFill>
                  <a:schemeClr val="tx1"/>
                </a:solidFill>
              </a:rPr>
              <a:t>.</a:t>
            </a:r>
            <a:r>
              <a:rPr lang="en-US" altLang="zh-CN" sz="2000" dirty="0" err="1">
                <a:solidFill>
                  <a:schemeClr val="tx1"/>
                </a:solidFill>
              </a:rPr>
              <a:t>tgz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group</a:t>
            </a:r>
            <a:r>
              <a:rPr lang="zh-CN" altLang="en-US" sz="2000" dirty="0">
                <a:solidFill>
                  <a:schemeClr val="tx1"/>
                </a:solidFill>
              </a:rPr>
              <a:t>用于年度备份，在复制没有文件夹的数据源（如</a:t>
            </a:r>
            <a:r>
              <a:rPr lang="en-US" altLang="zh-CN" sz="2000" dirty="0">
                <a:solidFill>
                  <a:schemeClr val="tx1"/>
                </a:solidFill>
              </a:rPr>
              <a:t>OP320</a:t>
            </a:r>
            <a:r>
              <a:rPr lang="zh-CN" altLang="en-US" sz="2000" dirty="0">
                <a:solidFill>
                  <a:schemeClr val="tx1"/>
                </a:solidFill>
              </a:rPr>
              <a:t>）时使用，一边复制一遍分类，平时不用，写法同</a:t>
            </a:r>
            <a:r>
              <a:rPr lang="en-US" altLang="zh-CN" sz="2000" dirty="0" err="1">
                <a:solidFill>
                  <a:schemeClr val="tx1"/>
                </a:solidFill>
              </a:rPr>
              <a:t>gz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just"/>
            <a:r>
              <a:rPr lang="zh-CN" altLang="en-US" sz="2800" dirty="0">
                <a:solidFill>
                  <a:srgbClr val="FF0000"/>
                </a:solidFill>
              </a:rPr>
              <a:t>最终得到一个文件，不是文件夹！！！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algn="just"/>
            <a:r>
              <a:rPr lang="zh-CN" altLang="en-US" sz="2800" dirty="0">
                <a:solidFill>
                  <a:srgbClr val="FF0000"/>
                </a:solidFill>
              </a:rPr>
              <a:t>是</a:t>
            </a:r>
            <a:r>
              <a:rPr lang="en-US" altLang="zh-CN" sz="2800" dirty="0" err="1">
                <a:solidFill>
                  <a:srgbClr val="FF0000"/>
                </a:solidFill>
              </a:rPr>
              <a:t>dst</a:t>
            </a:r>
            <a:r>
              <a:rPr lang="zh-CN" altLang="en-US" sz="2800" dirty="0">
                <a:solidFill>
                  <a:srgbClr val="FF0000"/>
                </a:solidFill>
              </a:rPr>
              <a:t>里指定的名字！！！</a:t>
            </a:r>
          </a:p>
        </p:txBody>
      </p:sp>
    </p:spTree>
    <p:extLst>
      <p:ext uri="{BB962C8B-B14F-4D97-AF65-F5344CB8AC3E}">
        <p14:creationId xmlns:p14="http://schemas.microsoft.com/office/powerpoint/2010/main" val="2965942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BDCA8B-498F-4849-8FF5-1DD1E2E7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筛选时间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A70F13-EA4B-48F8-BE05-F499E550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B1F068-636B-43E0-AE66-2C913BAD5BA7}"/>
              </a:ext>
            </a:extLst>
          </p:cNvPr>
          <p:cNvSpPr txBox="1"/>
          <p:nvPr/>
        </p:nvSpPr>
        <p:spPr>
          <a:xfrm>
            <a:off x="296052" y="980728"/>
            <a:ext cx="3254417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{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"</a:t>
            </a:r>
            <a:r>
              <a:rPr lang="en-US" altLang="zh-CN" sz="2000" dirty="0" err="1">
                <a:solidFill>
                  <a:srgbClr val="FF0000"/>
                </a:solidFill>
              </a:rPr>
              <a:t>src</a:t>
            </a:r>
            <a:r>
              <a:rPr lang="en-US" altLang="zh-CN" sz="2000" dirty="0">
                <a:solidFill>
                  <a:srgbClr val="FF0000"/>
                </a:solidFill>
              </a:rPr>
              <a:t>": "E:/Data Store/D69",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"</a:t>
            </a:r>
            <a:r>
              <a:rPr lang="en-US" altLang="zh-CN" sz="2000" dirty="0" err="1">
                <a:solidFill>
                  <a:srgbClr val="FF0000"/>
                </a:solidFill>
              </a:rPr>
              <a:t>dst</a:t>
            </a:r>
            <a:r>
              <a:rPr lang="en-US" altLang="zh-CN" sz="2000" dirty="0">
                <a:solidFill>
                  <a:srgbClr val="FF0000"/>
                </a:solidFill>
              </a:rPr>
              <a:t>": "F:/OP310.tar",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"</a:t>
            </a:r>
            <a:r>
              <a:rPr lang="en-US" altLang="zh-CN" sz="2000" dirty="0" err="1">
                <a:solidFill>
                  <a:srgbClr val="FF0000"/>
                </a:solidFill>
              </a:rPr>
              <a:t>time_range</a:t>
            </a:r>
            <a:r>
              <a:rPr lang="en-US" altLang="zh-CN" sz="2000" dirty="0">
                <a:solidFill>
                  <a:srgbClr val="FF0000"/>
                </a:solidFill>
              </a:rPr>
              <a:t>": ["", ""],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“</a:t>
            </a:r>
            <a:r>
              <a:rPr lang="en-US" altLang="zh-CN" sz="2000" dirty="0" err="1">
                <a:solidFill>
                  <a:srgbClr val="FF0000"/>
                </a:solidFill>
              </a:rPr>
              <a:t>exts</a:t>
            </a:r>
            <a:r>
              <a:rPr lang="en-US" altLang="zh-CN" sz="2000" dirty="0">
                <a:solidFill>
                  <a:srgbClr val="FF0000"/>
                </a:solidFill>
              </a:rPr>
              <a:t>”: [“.txt”, “.csv”],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"</a:t>
            </a:r>
            <a:r>
              <a:rPr lang="en-US" altLang="zh-CN" sz="2000" dirty="0" err="1">
                <a:solidFill>
                  <a:srgbClr val="FF0000"/>
                </a:solidFill>
              </a:rPr>
              <a:t>gz</a:t>
            </a:r>
            <a:r>
              <a:rPr lang="en-US" altLang="zh-CN" sz="2000" dirty="0">
                <a:solidFill>
                  <a:srgbClr val="FF0000"/>
                </a:solidFill>
              </a:rPr>
              <a:t>": false,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"group": false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}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6A1CE5-32F9-48BD-851C-9203E6498445}"/>
              </a:ext>
            </a:extLst>
          </p:cNvPr>
          <p:cNvSpPr txBox="1"/>
          <p:nvPr/>
        </p:nvSpPr>
        <p:spPr>
          <a:xfrm>
            <a:off x="211969" y="3965492"/>
            <a:ext cx="7055136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{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"</a:t>
            </a:r>
            <a:r>
              <a:rPr lang="en-US" altLang="zh-CN" sz="2000" dirty="0" err="1">
                <a:solidFill>
                  <a:srgbClr val="FF0000"/>
                </a:solidFill>
              </a:rPr>
              <a:t>src</a:t>
            </a:r>
            <a:r>
              <a:rPr lang="en-US" altLang="zh-CN" sz="2000" dirty="0">
                <a:solidFill>
                  <a:srgbClr val="FF0000"/>
                </a:solidFill>
              </a:rPr>
              <a:t>": "E:/Data Store/D69",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"</a:t>
            </a:r>
            <a:r>
              <a:rPr lang="en-US" altLang="zh-CN" sz="2000" dirty="0" err="1">
                <a:solidFill>
                  <a:srgbClr val="FF0000"/>
                </a:solidFill>
              </a:rPr>
              <a:t>dst</a:t>
            </a:r>
            <a:r>
              <a:rPr lang="en-US" altLang="zh-CN" sz="2000" dirty="0">
                <a:solidFill>
                  <a:srgbClr val="FF0000"/>
                </a:solidFill>
              </a:rPr>
              <a:t>": "F:/OP310.tar",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"</a:t>
            </a:r>
            <a:r>
              <a:rPr lang="en-US" altLang="zh-CN" sz="2000" dirty="0" err="1">
                <a:solidFill>
                  <a:srgbClr val="FF0000"/>
                </a:solidFill>
              </a:rPr>
              <a:t>time_range</a:t>
            </a:r>
            <a:r>
              <a:rPr lang="en-US" altLang="zh-CN" sz="2000" dirty="0">
                <a:solidFill>
                  <a:srgbClr val="FF0000"/>
                </a:solidFill>
              </a:rPr>
              <a:t>": ["2020-09-01 00:00:00", "2020-09-09 23:00:00"] ,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“</a:t>
            </a:r>
            <a:r>
              <a:rPr lang="en-US" altLang="zh-CN" sz="2000" dirty="0" err="1">
                <a:solidFill>
                  <a:srgbClr val="FF0000"/>
                </a:solidFill>
              </a:rPr>
              <a:t>exts</a:t>
            </a:r>
            <a:r>
              <a:rPr lang="en-US" altLang="zh-CN" sz="2000" dirty="0">
                <a:solidFill>
                  <a:srgbClr val="FF0000"/>
                </a:solidFill>
              </a:rPr>
              <a:t>”: [“.txt”, “.csv”],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"</a:t>
            </a:r>
            <a:r>
              <a:rPr lang="en-US" altLang="zh-CN" sz="2000" dirty="0" err="1">
                <a:solidFill>
                  <a:srgbClr val="FF0000"/>
                </a:solidFill>
              </a:rPr>
              <a:t>gz</a:t>
            </a:r>
            <a:r>
              <a:rPr lang="en-US" altLang="zh-CN" sz="2000" dirty="0">
                <a:solidFill>
                  <a:srgbClr val="FF0000"/>
                </a:solidFill>
              </a:rPr>
              <a:t>": false,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"group": false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}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DD7F0E-00B4-4DAA-9AF4-E9EB5A3E8A9B}"/>
              </a:ext>
            </a:extLst>
          </p:cNvPr>
          <p:cNvSpPr txBox="1"/>
          <p:nvPr/>
        </p:nvSpPr>
        <p:spPr>
          <a:xfrm>
            <a:off x="3955334" y="905914"/>
            <a:ext cx="7398466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有个叫 </a:t>
            </a:r>
            <a:r>
              <a:rPr lang="en-US" altLang="zh-CN" sz="2400" dirty="0" err="1">
                <a:solidFill>
                  <a:schemeClr val="tx1"/>
                </a:solidFill>
              </a:rPr>
              <a:t>time_range.json</a:t>
            </a:r>
            <a:r>
              <a:rPr lang="zh-CN" altLang="en-US" sz="2400" dirty="0">
                <a:solidFill>
                  <a:schemeClr val="tx1"/>
                </a:solidFill>
              </a:rPr>
              <a:t>的文件，内容如下：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{ "</a:t>
            </a:r>
            <a:r>
              <a:rPr lang="en-US" altLang="zh-CN" sz="2400" dirty="0" err="1">
                <a:solidFill>
                  <a:schemeClr val="tx1"/>
                </a:solidFill>
              </a:rPr>
              <a:t>time_range</a:t>
            </a:r>
            <a:r>
              <a:rPr lang="en-US" altLang="zh-CN" sz="2400" dirty="0">
                <a:solidFill>
                  <a:schemeClr val="tx1"/>
                </a:solidFill>
              </a:rPr>
              <a:t>": ["2020-08-24 08:00:00", "2020-08-25 23:00:00"] }</a:t>
            </a:r>
          </a:p>
          <a:p>
            <a:r>
              <a:rPr lang="zh-CN" altLang="en-US" sz="2400" dirty="0">
                <a:solidFill>
                  <a:schemeClr val="tx1"/>
                </a:solidFill>
              </a:rPr>
              <a:t>如下图分文件填了时间的，按照自己填的时间算。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如上图分文件不填时间的，会按照</a:t>
            </a:r>
            <a:r>
              <a:rPr lang="en-US" altLang="zh-CN" sz="2400" dirty="0" err="1">
                <a:solidFill>
                  <a:schemeClr val="tx1"/>
                </a:solidFill>
              </a:rPr>
              <a:t>time_range.json</a:t>
            </a:r>
            <a:r>
              <a:rPr lang="zh-CN" altLang="en-US" sz="2400" dirty="0">
                <a:solidFill>
                  <a:schemeClr val="tx1"/>
                </a:solidFill>
              </a:rPr>
              <a:t>里填的时间算。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若删除</a:t>
            </a:r>
            <a:r>
              <a:rPr lang="en-US" altLang="zh-CN" sz="2400" dirty="0" err="1">
                <a:solidFill>
                  <a:schemeClr val="tx1"/>
                </a:solidFill>
              </a:rPr>
              <a:t>time_range.json</a:t>
            </a:r>
            <a:r>
              <a:rPr lang="zh-CN" altLang="en-US" sz="2400" dirty="0">
                <a:solidFill>
                  <a:schemeClr val="tx1"/>
                </a:solidFill>
              </a:rPr>
              <a:t>，或</a:t>
            </a:r>
            <a:r>
              <a:rPr lang="en-US" altLang="zh-CN" sz="2400" dirty="0" err="1">
                <a:solidFill>
                  <a:schemeClr val="tx1"/>
                </a:solidFill>
              </a:rPr>
              <a:t>time_range.json</a:t>
            </a:r>
            <a:r>
              <a:rPr lang="zh-CN" altLang="en-US" sz="2400" dirty="0">
                <a:solidFill>
                  <a:schemeClr val="tx1"/>
                </a:solidFill>
              </a:rPr>
              <a:t>也不填，并且分文件里没有指定时间，会选择所有数据</a:t>
            </a:r>
          </a:p>
        </p:txBody>
      </p:sp>
    </p:spTree>
    <p:extLst>
      <p:ext uri="{BB962C8B-B14F-4D97-AF65-F5344CB8AC3E}">
        <p14:creationId xmlns:p14="http://schemas.microsoft.com/office/powerpoint/2010/main" val="368252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E1FCB-ED51-4127-882B-99E3BCBF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新建配置与运行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36EBD07-5B9E-4618-B42F-FCEAFC744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827" y="836712"/>
            <a:ext cx="10515600" cy="525658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假如现在要添加复制</a:t>
            </a:r>
            <a:r>
              <a:rPr lang="en-US" altLang="zh-CN" sz="2400" dirty="0"/>
              <a:t>OP60</a:t>
            </a:r>
            <a:r>
              <a:rPr lang="zh-CN" altLang="en-US" sz="2400" dirty="0"/>
              <a:t>数据的配置文件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需要以下文件：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extract_OP60.bat</a:t>
            </a:r>
            <a:r>
              <a:rPr lang="zh-CN" altLang="en-US" sz="2400" dirty="0"/>
              <a:t>，这个文件名字随意，这是推荐名称，内容可复制</a:t>
            </a:r>
            <a:r>
              <a:rPr lang="en-US" altLang="zh-CN" sz="2400" dirty="0"/>
              <a:t>extract_OP340.bat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OP60.json</a:t>
            </a:r>
            <a:r>
              <a:rPr lang="zh-CN" altLang="en-US" sz="2400" dirty="0"/>
              <a:t>，内容可复制</a:t>
            </a:r>
            <a:r>
              <a:rPr lang="en-US" altLang="zh-CN" sz="2400" dirty="0"/>
              <a:t>OP500.json</a:t>
            </a:r>
            <a:r>
              <a:rPr lang="zh-CN" altLang="en-US" sz="2400" dirty="0"/>
              <a:t>，若遇到路径里有中文的情况：文件编码必须为 </a:t>
            </a:r>
            <a:r>
              <a:rPr lang="en-US" altLang="zh-CN" sz="2400" dirty="0">
                <a:solidFill>
                  <a:srgbClr val="FF0000"/>
                </a:solidFill>
              </a:rPr>
              <a:t>UTF-8 </a:t>
            </a:r>
            <a:r>
              <a:rPr lang="zh-CN" altLang="en-US" sz="2400" dirty="0">
                <a:solidFill>
                  <a:srgbClr val="FF0000"/>
                </a:solidFill>
              </a:rPr>
              <a:t>无</a:t>
            </a:r>
            <a:r>
              <a:rPr lang="en-US" altLang="zh-CN" sz="2400" dirty="0">
                <a:solidFill>
                  <a:srgbClr val="FF0000"/>
                </a:solidFill>
              </a:rPr>
              <a:t>BOM</a:t>
            </a:r>
            <a:r>
              <a:rPr lang="zh-CN" altLang="en-US" sz="2400" dirty="0"/>
              <a:t>，懂的人可以自己弄，不懂的话，</a:t>
            </a:r>
            <a:r>
              <a:rPr lang="en-US" altLang="zh-CN" sz="2400" dirty="0"/>
              <a:t>OP500</a:t>
            </a:r>
            <a:r>
              <a:rPr lang="zh-CN" altLang="en-US" sz="2400" dirty="0"/>
              <a:t>的路径里有中文，所以这个文件是配好的，复制它，然后可以使用</a:t>
            </a:r>
            <a:r>
              <a:rPr lang="en-US" altLang="zh-CN" sz="2400" dirty="0"/>
              <a:t>windows</a:t>
            </a:r>
            <a:r>
              <a:rPr lang="zh-CN" altLang="en-US" sz="2400" dirty="0"/>
              <a:t>自带的文本文档编辑。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若有一台计算机上有多个工位的数据，参考</a:t>
            </a:r>
            <a:r>
              <a:rPr lang="en-US" altLang="zh-CN" sz="2400" dirty="0"/>
              <a:t>extract_OP310.bat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.bat</a:t>
            </a:r>
            <a:r>
              <a:rPr lang="zh-CN" altLang="en-US" sz="2400" dirty="0"/>
              <a:t>文件也可用文本文档编辑，</a:t>
            </a:r>
            <a:r>
              <a:rPr lang="zh-CN" altLang="en-US" sz="2400" dirty="0">
                <a:solidFill>
                  <a:srgbClr val="FF0000"/>
                </a:solidFill>
              </a:rPr>
              <a:t>运行时双击，编辑时点击右键，在菜单里选“编辑”，若需要编辑却双击了，不会损坏目标计算机数据，但是可能会有其他怪事，</a:t>
            </a:r>
            <a:r>
              <a:rPr lang="zh-CN" altLang="en-US" sz="2400" dirty="0"/>
              <a:t>所以大部分操作请在自己计算机上弄好，再带着</a:t>
            </a:r>
            <a:r>
              <a:rPr lang="en-US" altLang="zh-CN" sz="2400" dirty="0"/>
              <a:t>U</a:t>
            </a:r>
            <a:r>
              <a:rPr lang="zh-CN" altLang="en-US" sz="2400" dirty="0"/>
              <a:t>盘下去复制</a:t>
            </a:r>
            <a:endParaRPr lang="en-US" altLang="zh-CN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863768-4365-4C76-BE34-598880F5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95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E1FCB-ED51-4127-882B-99E3BCBF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测试程序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36EBD07-5B9E-4618-B42F-FCEAFC744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827" y="836712"/>
            <a:ext cx="10515600" cy="477697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可以先编辑</a:t>
            </a:r>
            <a:r>
              <a:rPr lang="en-US" altLang="zh-CN" sz="2400" dirty="0" err="1"/>
              <a:t>test.json</a:t>
            </a:r>
            <a:r>
              <a:rPr lang="zh-CN" altLang="en-US" sz="2400" dirty="0"/>
              <a:t>，然后双击</a:t>
            </a:r>
            <a:r>
              <a:rPr lang="en-US" altLang="zh-CN" sz="2400" dirty="0"/>
              <a:t>test.bat</a:t>
            </a:r>
            <a:r>
              <a:rPr lang="zh-CN" altLang="en-US" sz="2400" dirty="0"/>
              <a:t>测试程序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文件会生成在子目录</a:t>
            </a:r>
            <a:r>
              <a:rPr lang="en-US" altLang="zh-CN" sz="2400" dirty="0"/>
              <a:t>”</a:t>
            </a:r>
            <a:r>
              <a:rPr lang="en-US" altLang="zh-CN" sz="2400" dirty="0" err="1"/>
              <a:t>test_dir</a:t>
            </a:r>
            <a:r>
              <a:rPr lang="zh-CN" altLang="en-US" sz="2400" dirty="0"/>
              <a:t>“里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extract_tdms.bat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tdms.json</a:t>
            </a:r>
            <a:r>
              <a:rPr lang="zh-CN" altLang="en-US" sz="2400"/>
              <a:t>也是测试文件，用于复制并快速修改</a:t>
            </a:r>
            <a:endParaRPr lang="en-US" altLang="zh-CN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863768-4365-4C76-BE34-598880F5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3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E1FCB-ED51-4127-882B-99E3BCBF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在现场出错的解决方案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863768-4365-4C76-BE34-598880F5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0E79145B-D825-4D30-8A9D-268DB995D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827" y="1262350"/>
            <a:ext cx="5187149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程序运行时共分为三步，搜索、分类和导出。正常情况下，“搜索”的数字一直变化，变化停止时出现“分类”进度条。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若“搜索”时数字不变化，且不出现“分类”进度条，是因为文件太多，请耐心等待，</a:t>
            </a:r>
            <a:r>
              <a:rPr lang="zh-CN" altLang="en-US" dirty="0">
                <a:solidFill>
                  <a:srgbClr val="FF0000"/>
                </a:solidFill>
              </a:rPr>
              <a:t>不要随意关闭黑框</a:t>
            </a:r>
            <a:r>
              <a:rPr lang="zh-CN" altLang="en-US" dirty="0"/>
              <a:t>（一般来说也关不掉）。</a:t>
            </a:r>
          </a:p>
        </p:txBody>
      </p:sp>
      <p:pic>
        <p:nvPicPr>
          <p:cNvPr id="9" name="内容占位符 5">
            <a:extLst>
              <a:ext uri="{FF2B5EF4-FFF2-40B4-BE49-F238E27FC236}">
                <a16:creationId xmlns:a16="http://schemas.microsoft.com/office/drawing/2014/main" id="{9295872C-B92A-4D04-95D0-0A6BBEDF16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01065" y="1412776"/>
            <a:ext cx="5292588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29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1"/>
          <p:cNvSpPr>
            <a:spLocks noChangeArrowheads="1"/>
          </p:cNvSpPr>
          <p:nvPr/>
        </p:nvSpPr>
        <p:spPr bwMode="auto">
          <a:xfrm>
            <a:off x="3359696" y="2564905"/>
            <a:ext cx="5616996" cy="90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汇报完毕！</a:t>
            </a:r>
          </a:p>
        </p:txBody>
      </p:sp>
    </p:spTree>
  </p:cSld>
  <p:clrMapOvr>
    <a:masterClrMapping/>
  </p:clrMapOvr>
  <p:transition>
    <p:checker dir="vert"/>
  </p:transition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11847</TotalTime>
  <Pages>0</Pages>
  <Words>1466</Words>
  <Characters>0</Characters>
  <Application>Microsoft Office PowerPoint</Application>
  <DocSecurity>0</DocSecurity>
  <PresentationFormat>宽屏</PresentationFormat>
  <Lines>0</Lines>
  <Paragraphs>105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Arial Black</vt:lpstr>
      <vt:lpstr>Calibri</vt:lpstr>
      <vt:lpstr>Times New Roman</vt:lpstr>
      <vt:lpstr>自定义设计方案</vt:lpstr>
      <vt:lpstr>默认设计模板</vt:lpstr>
      <vt:lpstr>不影响生产且 从工位计算机提取数据的 解决方案</vt:lpstr>
      <vt:lpstr>验证工作中遇到的问题</vt:lpstr>
      <vt:lpstr>复制文件中遇到的问题</vt:lpstr>
      <vt:lpstr>文件夹层级关系复杂</vt:lpstr>
      <vt:lpstr>复制文件中遇到的问题</vt:lpstr>
      <vt:lpstr>使用程序复制文件</vt:lpstr>
      <vt:lpstr>设定需求</vt:lpstr>
      <vt:lpstr>配置文件说明</vt:lpstr>
      <vt:lpstr>筛选时间</vt:lpstr>
      <vt:lpstr>新建配置与运行</vt:lpstr>
      <vt:lpstr>测试程序</vt:lpstr>
      <vt:lpstr>在现场出错的解决方案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行动计划</dc:title>
  <dc:creator>admin</dc:creator>
  <cp:lastModifiedBy>happy0164</cp:lastModifiedBy>
  <cp:revision>1535</cp:revision>
  <dcterms:created xsi:type="dcterms:W3CDTF">2006-02-22T03:25:11Z</dcterms:created>
  <dcterms:modified xsi:type="dcterms:W3CDTF">2020-10-16T06:10:19Z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2052-10.1.0.6135</vt:lpwstr>
  </property>
</Properties>
</file>